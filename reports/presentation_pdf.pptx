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34"/>
  </p:notesMasterIdLst>
  <p:sldIdLst>
    <p:sldId id="256" r:id="rId3"/>
    <p:sldId id="285" r:id="rId4"/>
    <p:sldId id="286" r:id="rId5"/>
    <p:sldId id="287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300" r:id="rId14"/>
    <p:sldId id="301" r:id="rId15"/>
    <p:sldId id="264" r:id="rId16"/>
    <p:sldId id="302" r:id="rId17"/>
    <p:sldId id="303" r:id="rId18"/>
    <p:sldId id="279" r:id="rId19"/>
    <p:sldId id="304" r:id="rId20"/>
    <p:sldId id="305" r:id="rId21"/>
    <p:sldId id="284" r:id="rId22"/>
    <p:sldId id="266" r:id="rId23"/>
    <p:sldId id="265" r:id="rId24"/>
    <p:sldId id="306" r:id="rId25"/>
    <p:sldId id="281" r:id="rId26"/>
    <p:sldId id="280" r:id="rId27"/>
    <p:sldId id="268" r:id="rId28"/>
    <p:sldId id="282" r:id="rId29"/>
    <p:sldId id="267" r:id="rId30"/>
    <p:sldId id="270" r:id="rId31"/>
    <p:sldId id="269" r:id="rId32"/>
    <p:sldId id="276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isini Jane" initials="CJ" lastIdx="1" clrIdx="0">
    <p:extLst>
      <p:ext uri="{19B8F6BF-5375-455C-9EA6-DF929625EA0E}">
        <p15:presenceInfo xmlns:p15="http://schemas.microsoft.com/office/powerpoint/2012/main" userId="ba8f16a6641d5d1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42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commentAuthors" Target="comment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25T09:48:43.666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大家好，今天我将为大家汇报一项关于《Remotely Close Associations》这篇经典文献的计算可复现性检验研究。这项研究旨在验证开放性人格与语义记忆网络结构之间的关系。我们将深入探讨原研究的设计、核心发现，并展示我们在现代计算环境下进行复现的全过程、遇到的挑战以及最终的结论。希望通过这次汇报，能为大家揭示计算科学研究中可复现性的重要性与复杂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了解一下这项研究的背景。开放性作为大五人格的重要维度，一直被认为与创造力等高级认知功能密切相关。然而，其背后的认知机制一直是个谜。近年来，研究者开始运用复杂网络理论来分析语义记忆，提出了一个有趣的假设：高开放性个体的大脑里，概念之间的连接可能更高效、更灵活。这就引出了我们本次研究的核心问题：开放性人格，究竟是否以及如何系统性地塑造我们大脑中的语义记忆网络结构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介绍了原研究的整体设计。首先，研究采用横断面组间比较设计，总样本为516名成人，汇集了3项独立子研究，并基于开放性得分中位数将被试分为高低开放性两组。其次，在测量与任务方面，使用NEO-FFI-3等量表测量人格，通过动物语义流畅性任务收集行为数据，并在群体层面构建语义网络进行拓扑差异分析。最后，研究逻辑遵循“被试作答-词汇产出-网络构建-指标分析”的流程，清晰地检验核心假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原研究的数据分析流程非常严谨。首先，对数据进行清洗和标准化。然后，通过词汇共现来构建语义关联网络，并使用一种叫做TMFG的先进算法来提取网络的核心结构。接着，计算三个关键的网络指标：平均最短路径长度ASPL、聚类系数CC和模块度Q，分别代表网络的整体效率、局部聚集性和模块化程度。最后，通过复杂的统计检验来确保结果的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原研究的主要结果可精炼为：高开放性组在ASPL、CC、Q三个核心指标上均表现出预期特征，分别体现为连通性更强、局部聚类更清晰、语义联结更灵活，共同支持了研究假设。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原研究的重要发现，我们的复现研究设定了两个主要目标。首先，我们要完整地复现原研究的整个分析流程，确保每一步都尽可能贴近原作。其次，也是更重要的，我们要从两个维度来检验其可复现性：一是“结果可复现性”，即我们能否得到完全一样的数字；二是“推论可复现性”，即我们能否得出与原研究相同的结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复现工作基于原作者公开的数据，并使用了当前最新的R语言环境（版本4.5.3）。我们严格遵循了原研究的数据处理步骤，并对一些细节进行了优化，比如补全了错误数据和统一了词汇拼写。这确保了我们的分析是在一个透明、可靠且与时俱进的环境中进行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复现的核心障碍在于兼容性问题。原研究代码因R包更新无法直接运行，函数架构发生了根本性重构，导致数据结构、关键功能和接口均不兼容，需要针对性地重写和调整。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面对这些挑战，我们没有放弃，而是对整个分析流程进行了方法学上的重构。我们的核心原则是，在不改变原研究理论逻辑的前提下，找到适配当前软件环境的解决方案。这包括手动提取节点矩阵、自定义相似度函数、调整TMFG网络的提取方式、统一使用igraph包计算指标，以及重新编写Bootstrap检验的代码。这个过程虽然耗时，但确保了我们能够在现代环境下，以最接近原研究思想的方式进行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重构后的网络构建流程。从原始的行为数据出发，我们首先构建了一个被试-词汇的响应矩阵。然后，计算词汇之间的Jaccard相似度，得到一个关联强度矩阵。接着，应用TMFG算法过滤出网络的核心骨架。最后，将其转换为标准的igraph网络对象，为后续的指标计算做好准备。每一步都清晰、可追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60626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重构后的网络构建流程。从原始的行为数据出发，我们首先构建了一个被试-词汇的响应矩阵。然后，计算词汇之间的Jaccard相似度，得到一个关联强度矩阵。接着，应用TMFG算法过滤出网络的核心骨架。最后，将其转换为标准的igraph网络对象，为后续的指标计算做好准备。每一步都清晰、可追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5675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所有指标的理论定义与原研究完全一致，仅计算工具从旧版NetworkToolbox切换为标准igraph实现。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重构后的网络构建流程。从原始的行为数据出发，我们首先构建了一个被试-词汇的响应矩阵。然后，计算词汇之间的Jaccard相似度，得到一个关联强度矩阵。接着，应用TMFG算法过滤出网络的核心骨架。最后，将其转换为标准的igraph网络对象，为后续的指标计算做好准备。每一步都清晰、可追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重构后的网络构建流程。从原始的行为数据出发，我们首先构建了一个被试-词汇的响应矩阵。然后，计算词汇之间的Jaccard相似度，得到一个关联强度矩阵。接着，应用TMFG算法过滤出网络的核心骨架。最后，将其转换为标准的igraph网络对象，为后续的指标计算做好准备。每一步都清晰、可追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23422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重构后的网络构建流程。从原始的行为数据出发，我们首先构建了一个被试-词汇的响应矩阵。然后，计算词汇之间的Jaccard相似度，得到一个关联强度矩阵。接着，应用TMFG算法过滤出网络的核心骨架。最后，将其转换为标准的igraph网络对象，为后续的指标计算做好准备。每一步都清晰、可追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66178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检验结果的稳定性，我们进行了Bootstrap分析，即在不同比例的节点抽样下重复我们的分析。结果显示，在90%到60%的节点保留率下，ASPL和CC的组间差异方向都非常稳健。即使在节点减少到50%时，CC的差异依然显著。这表明，原研究发现的组间差异模式具有很高的稳健性，不是由少数几个节点决定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重构后的网络构建流程。从原始的行为数据出发，我们首先构建了一个被试-词汇的响应矩阵。然后，计算词汇之间的Jaccard相似度，得到一个关联强度矩阵。接着，应用TMFG算法过滤出网络的核心骨架。最后，将其转换为标准的igraph网络对象，为后续的指标计算做好准备。每一步都清晰、可追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920934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激动人心的时刻到了，让我们来看复现的结果。这张表格对比了原研究和我们复现研究的核心指标。可以看到，虽然绝对数值存在较大偏差，但在ASPL和CC这两个关键指标上，高分组和低分组的差异方向与原研究完全一致！这意味着，高开放性组网络更高效、局部组织更好的核心模式得到了复现。唯一不一致的是模块度Q，这可能与算法细节有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总结了研究的核心结论与启示。我们成功复现了理论结论，也发现了数值复现的壁垒，并形成了可复用的方案。这启示我们，计算可复现性需要开放数据和代码，并固化软件环境，为后续研究提供了重要指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综合来看，我们如何评估这次复现的结果呢？在数值层面，我们必须诚实地说，由于软件环境的变迁，完全的数值复现是困难的。但是，在更重要的推论层面，我们成功地复现了原研究的核心结论：高开放性个体确实拥有一个结构上更灵活、更高效的语义记忆网络。这是一个典型的“结论稳健、数值受环境影响”的案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原研究的重要发现，我们的复现研究设定了两个主要目标。首先，我们要完整地复现原研究的整个分析流程，确保每一步都尽可能贴近原作。其次，也是更重要的，我们要从两个维度来检验其可复现性：一是“结果可复现性”，即我们能否得到完全一样的数字；二是“推论可复现性”，即我们能否得出与原研究相同的结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9428" y="1440712"/>
            <a:ext cx="10922000" cy="20517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800" b="1" i="0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Remotely Close Associations: </a:t>
            </a:r>
            <a:endParaRPr lang="en-US" sz="2800" b="1" i="0" u="none" strike="noStrike" dirty="0" smtClean="0">
              <a:solidFill>
                <a:srgbClr val="333333"/>
              </a:solidFill>
              <a:latin typeface="Times New Roman" panose="02020603050405020304" pitchFamily="18" charset="0"/>
              <a:ea typeface="Noto Sans SC"/>
              <a:cs typeface="Times New Roman" panose="02020603050405020304" pitchFamily="18" charset="0"/>
              <a:sym typeface="Noto Sans SC"/>
            </a:endParaRPr>
          </a:p>
          <a:p>
            <a:pPr marL="0" indent="0" algn="ctr">
              <a:lnSpc>
                <a:spcPct val="108333"/>
              </a:lnSpc>
              <a:defRPr/>
            </a:pPr>
            <a:r>
              <a:rPr lang="en-US" sz="2800" b="1" i="0" u="none" strike="noStrike" dirty="0" smtClean="0">
                <a:solidFill>
                  <a:srgbClr val="333333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Openness </a:t>
            </a:r>
            <a:r>
              <a:rPr lang="en-US" sz="2800" b="1" i="0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to Experience and Semantic Memory </a:t>
            </a:r>
            <a:r>
              <a:rPr lang="en-US" sz="2800" b="1" i="0" u="none" strike="noStrike" dirty="0" smtClean="0">
                <a:solidFill>
                  <a:srgbClr val="333333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Structure</a:t>
            </a:r>
          </a:p>
          <a:p>
            <a:pPr algn="ctr">
              <a:lnSpc>
                <a:spcPct val="108333"/>
              </a:lnSpc>
              <a:spcBef>
                <a:spcPts val="1200"/>
              </a:spcBef>
              <a:defRPr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遥远却紧密的联结：经验开放性与语义记忆结构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31703" y="3540642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0" i="0" u="none" strike="noStrike" dirty="0" err="1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计算可复现性检验研究</a:t>
            </a:r>
            <a:endParaRPr 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94488" y="4613347"/>
            <a:ext cx="10922000" cy="7826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666666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汇报人</a:t>
            </a:r>
            <a:r>
              <a:rPr lang="en-US" sz="1800" b="0" i="0" u="none" strike="noStrike" dirty="0" smtClean="0">
                <a:solidFill>
                  <a:srgbClr val="666666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：</a:t>
            </a:r>
            <a:r>
              <a:rPr lang="zh-CN" altLang="en-US" sz="1800" b="0" i="0" u="none" strike="noStrike" dirty="0" smtClean="0">
                <a:solidFill>
                  <a:srgbClr val="666666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高烨</a:t>
            </a:r>
            <a:r>
              <a:rPr lang="en-US" sz="1800" b="0" i="0" u="none" strike="noStrike" dirty="0" smtClean="0">
                <a:solidFill>
                  <a:srgbClr val="666666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 18240231 </a:t>
            </a:r>
          </a:p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 dirty="0" err="1" smtClean="0">
                <a:solidFill>
                  <a:srgbClr val="666666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汇报日期</a:t>
            </a:r>
            <a:r>
              <a:rPr lang="zh-CN" altLang="en-US" sz="1800" dirty="0" smtClean="0">
                <a:solidFill>
                  <a:srgbClr val="666666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：</a:t>
            </a:r>
            <a:r>
              <a:rPr lang="en-US" altLang="zh-CN" sz="1800" dirty="0" smtClean="0">
                <a:solidFill>
                  <a:srgbClr val="666666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6</a:t>
            </a:r>
            <a:r>
              <a:rPr lang="zh-CN" altLang="en-US" sz="1800" dirty="0" smtClean="0">
                <a:solidFill>
                  <a:srgbClr val="666666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月</a:t>
            </a:r>
            <a:r>
              <a:rPr lang="en-US" altLang="zh-CN" sz="1800" dirty="0" smtClean="0">
                <a:solidFill>
                  <a:srgbClr val="666666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25</a:t>
            </a:r>
            <a:r>
              <a:rPr lang="zh-CN" altLang="en-US" sz="1800" dirty="0" smtClean="0">
                <a:solidFill>
                  <a:srgbClr val="666666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日</a:t>
            </a:r>
            <a:endParaRPr 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41673" y="282047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200" b="1" dirty="0" smtClean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文献基本信息</a:t>
            </a:r>
            <a:endParaRPr lang="en-US" altLang="zh-CN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834656" y="1387549"/>
            <a:ext cx="10372060" cy="2775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论文标题：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Remotely Close Associations: Openness to Experience and Semantic Memory </a:t>
            </a:r>
            <a:r>
              <a:rPr lang="en-US" altLang="zh-CN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Structure</a:t>
            </a:r>
          </a:p>
          <a:p>
            <a:pPr>
              <a:lnSpc>
                <a:spcPct val="200000"/>
              </a:lnSpc>
            </a:pP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作者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Alexander P. Christensen, </a:t>
            </a:r>
            <a:r>
              <a:rPr lang="en-US" altLang="zh-CN" sz="18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Yoed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 N. </a:t>
            </a:r>
            <a:r>
              <a:rPr lang="en-US" altLang="zh-CN" sz="18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Kenett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, Katherine N. Cotter, Roger E. </a:t>
            </a:r>
            <a:r>
              <a:rPr lang="en-US" altLang="zh-CN" sz="18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Beaty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, Paul J. </a:t>
            </a:r>
            <a:r>
              <a:rPr lang="en-US" altLang="zh-CN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Silvia</a:t>
            </a:r>
          </a:p>
          <a:p>
            <a:pPr>
              <a:lnSpc>
                <a:spcPct val="200000"/>
              </a:lnSpc>
            </a:pP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发表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信息：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European Journal of Personality, 2018, 32(4): </a:t>
            </a:r>
            <a:r>
              <a:rPr lang="en-US" altLang="zh-CN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480–492</a:t>
            </a:r>
          </a:p>
          <a:p>
            <a:pPr>
              <a:lnSpc>
                <a:spcPct val="200000"/>
              </a:lnSpc>
            </a:pPr>
            <a:r>
              <a:rPr lang="en-US" altLang="zh-CN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DOI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en-US" altLang="zh-CN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10.1002/per.2157</a:t>
            </a:r>
          </a:p>
          <a:p>
            <a:pPr>
              <a:lnSpc>
                <a:spcPct val="200000"/>
              </a:lnSpc>
            </a:pP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关键词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标签：大五人格、开放性、语义记忆、语义网络分析、开放科学</a:t>
            </a:r>
          </a:p>
        </p:txBody>
      </p:sp>
    </p:spTree>
    <p:extLst>
      <p:ext uri="{BB962C8B-B14F-4D97-AF65-F5344CB8AC3E}">
        <p14:creationId xmlns:p14="http://schemas.microsoft.com/office/powerpoint/2010/main" val="169498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65708" y="191670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作者</a:t>
            </a:r>
            <a:endParaRPr lang="en-US" altLang="zh-CN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659219" y="776445"/>
            <a:ext cx="1114292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Alexander 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P. </a:t>
            </a:r>
            <a:r>
              <a:rPr lang="en-US" altLang="zh-CN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Christensen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：第一 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/ 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通讯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作者，北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卡罗来纳大学格林斯伯勒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分校</a:t>
            </a:r>
            <a:endParaRPr lang="en-US" altLang="zh-CN" sz="1800" dirty="0" smtClean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	</a:t>
            </a:r>
            <a:r>
              <a:rPr lang="en-US" altLang="zh-CN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		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心理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与认知网络分析工具开发者，本研究使用的 </a:t>
            </a:r>
            <a:r>
              <a:rPr lang="en-US" altLang="zh-CN" sz="18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SemNetToolbox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、</a:t>
            </a:r>
            <a:r>
              <a:rPr lang="en-US" altLang="zh-CN" sz="18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NetworkToolbox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均为其自研，是将网络科学引入人格与语义记忆研究的核心学者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。</a:t>
            </a:r>
            <a:endParaRPr lang="en-US" altLang="zh-CN" sz="1800" dirty="0" smtClean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err="1" smtClean="0">
                <a:latin typeface="Times New Roman" panose="02020603050405020304" pitchFamily="18" charset="0"/>
                <a:ea typeface="仿宋" panose="02010609060101010101" pitchFamily="49" charset="-122"/>
              </a:rPr>
              <a:t>Yoed</a:t>
            </a:r>
            <a:r>
              <a:rPr lang="en-US" altLang="zh-CN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N. 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仿宋" panose="02010609060101010101" pitchFamily="49" charset="-122"/>
              </a:rPr>
              <a:t>Kenett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核心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合作者，宾夕法尼亚大学</a:t>
            </a:r>
            <a:endParaRPr lang="en-US" altLang="zh-CN" sz="18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lvl="4">
              <a:lnSpc>
                <a:spcPct val="200000"/>
              </a:lnSpc>
            </a:pP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全球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语义网络研究领域核心学者，首创 “高创造力者语义网络更灵活互联” 的研究范式，为本研究提供了核心方法框架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。</a:t>
            </a:r>
            <a:endParaRPr lang="en-US" altLang="zh-CN" sz="1800" dirty="0" smtClean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Paul 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J. </a:t>
            </a:r>
            <a:r>
              <a:rPr lang="en-US" altLang="zh-CN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Silvia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资深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作者，人格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与创造力研究权威，大五人格开放性领域的核心研究者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。</a:t>
            </a:r>
            <a:endParaRPr lang="en-US" altLang="zh-CN" sz="1800" dirty="0" smtClean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复现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基础：研究全部原始数据、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R 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分析代码、实验材料均公开于 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OSF 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平台（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osf.io/</a:t>
            </a:r>
            <a:r>
              <a:rPr lang="en-US" altLang="zh-CN" sz="18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craky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/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），获开放数据、开放材料双认证，具备完整复现条件。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708" y="5146158"/>
            <a:ext cx="5841656" cy="159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901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58636" y="340258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200" b="1" dirty="0" smtClean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期刊信息</a:t>
            </a:r>
            <a:endParaRPr lang="en-US" altLang="zh-CN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738963" y="994144"/>
            <a:ext cx="110100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期刊定位：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European Journal of Personality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EJP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），</a:t>
            </a:r>
            <a:endParaRPr lang="en-US" altLang="zh-CN" sz="1800" dirty="0" smtClean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lvl="2">
              <a:lnSpc>
                <a:spcPct val="200000"/>
              </a:lnSpc>
            </a:pP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欧洲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人格心理学协会（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EAPP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）官方旗舰刊，人格心理学领域老牌权威专业期刊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。</a:t>
            </a:r>
            <a:endParaRPr lang="en-US" altLang="zh-CN" sz="1800" dirty="0" smtClean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收录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与分区：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SSCI 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收录，归属社会心理学学科，发表至今稳定处于 </a:t>
            </a:r>
            <a:endParaRPr lang="en-US" altLang="zh-CN" sz="1800" dirty="0" smtClean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JCR 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Q1 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区；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2018 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年学科排名 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6/64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，属于领域第一梯队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。</a:t>
            </a:r>
            <a:endParaRPr lang="en-US" altLang="zh-CN" sz="1800" dirty="0" smtClean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影响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因子：发表当年（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2018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）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2 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年 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IF ≈ 3.3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，最新（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2024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）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2 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年 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IF ≈ 4.93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，影响力稳步上升</a:t>
            </a: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。</a:t>
            </a:r>
            <a:endParaRPr lang="en-US" altLang="zh-CN" sz="1800" dirty="0" smtClean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latin typeface="Times New Roman" panose="02020603050405020304" pitchFamily="18" charset="0"/>
                <a:ea typeface="仿宋" panose="02010609060101010101" pitchFamily="49" charset="-122"/>
              </a:rPr>
              <a:t>同行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</a:rPr>
              <a:t>评议：严格双盲同行评议，研究设计与结论的学术可信度高。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102" y="3846178"/>
            <a:ext cx="1977656" cy="279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631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9796" y="386316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研究背景与问题提出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031948" y="1629589"/>
            <a:ext cx="10160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200000"/>
              </a:lnSpc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开放性（Openness</a:t>
            </a:r>
            <a:r>
              <a:rPr lang="en-US" sz="1800" b="0" i="0" u="none" strike="noStrike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 to Experience）是大五人格的核心维度，与创造力、认知灵活性、发散思维存在稳定正相关，但其影响认知的内在机制尚未被充分解释</a:t>
            </a:r>
            <a:r>
              <a:rPr lang="en-US" sz="1800" b="0" i="0" u="none" strike="noStrike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200000"/>
              </a:lnSpc>
              <a:defRPr/>
            </a:pPr>
            <a:r>
              <a:rPr lang="en-US" sz="1800" b="0" i="0" u="none" strike="noStrike" dirty="0" err="1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随着复杂网络理论发展</a:t>
            </a:r>
            <a:r>
              <a:rPr lang="en-US" sz="1800" b="0" i="0" u="none" strike="noStrike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，语义记忆被视作由概念节点和关联构成的网络结构</a:t>
            </a:r>
            <a:r>
              <a:rPr lang="en-US" sz="1800" b="0" i="0" u="none" strike="noStrike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200000"/>
              </a:lnSpc>
              <a:defRPr/>
            </a:pPr>
            <a:r>
              <a:rPr lang="en-US" sz="1800" b="0" i="0" u="none" strike="noStrike" dirty="0" err="1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Kenett</a:t>
            </a:r>
            <a:r>
              <a:rPr lang="en-US" sz="1800" b="0" i="0" u="none" strike="noStrike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等人提出：</a:t>
            </a:r>
            <a:r>
              <a:rPr lang="en-US" sz="1800" b="1" i="0" u="none" strike="noStrike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高开放性个体的语义记忆网络可能具备更灵活、连通性更强的结构特征</a:t>
            </a:r>
            <a:r>
              <a:rPr lang="en-US" sz="1800" b="0" i="0" u="none" strike="noStrike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，这是其创造力优势的认知基础</a:t>
            </a:r>
            <a:r>
              <a:rPr lang="en-US" sz="1800" b="0" i="0" u="none" strike="noStrike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。</a:t>
            </a:r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4869121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8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研究问题：开放性人格水平是否会系统性地影响个体语义记忆网络的拓扑结构</a:t>
            </a:r>
            <a:r>
              <a:rPr lang="en-US" sz="18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5" name="文本框 4"/>
          <p:cNvSpPr txBox="1"/>
          <p:nvPr/>
        </p:nvSpPr>
        <p:spPr>
          <a:xfrm>
            <a:off x="1016000" y="1224516"/>
            <a:ext cx="2306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 err="1" smtClean="0">
                <a:latin typeface="Noto Sans SC"/>
                <a:ea typeface="Noto Sans SC"/>
                <a:cs typeface="Noto Sans SC"/>
                <a:sym typeface="Noto Sans SC"/>
              </a:rPr>
              <a:t>研究</a:t>
            </a:r>
            <a:r>
              <a:rPr lang="zh-CN" altLang="en-US" sz="1800" b="1" dirty="0" smtClean="0">
                <a:latin typeface="Noto Sans SC"/>
                <a:ea typeface="Noto Sans SC"/>
                <a:cs typeface="Noto Sans SC"/>
                <a:sym typeface="Noto Sans SC"/>
              </a:rPr>
              <a:t>背景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7827" y="320749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原研究设计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30103" y="1208568"/>
            <a:ext cx="1066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一、研究方案</a:t>
            </a:r>
            <a:endParaRPr lang="en-US" sz="1100" dirty="0"/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•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研究类型：横断面组间比较设计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•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总样本：N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 = 516名成人，汇集3项独立子研究</a:t>
            </a:r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•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分组方式：基于开放性潜变量得分中位数，均分为高开放性组（n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=258）与低开放性组（n=258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）</a:t>
            </a:r>
          </a:p>
          <a:p>
            <a:pPr>
              <a:lnSpc>
                <a:spcPct val="150000"/>
              </a:lnSpc>
              <a:defRPr/>
            </a:pP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8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二、测量与任务</a:t>
            </a:r>
            <a:endParaRPr lang="en-US" sz="1800" b="1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• 人格测量：NEO-FFI-3 / NEO-PI-3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、</a:t>
            </a: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（最终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合并全样本分析时，统一</a:t>
            </a: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提取共有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的 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12 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道开放性</a:t>
            </a: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题目）</a:t>
            </a:r>
            <a:endParaRPr lang="en-US" sz="1600" dirty="0" smtClean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	</a:t>
            </a:r>
            <a:r>
              <a:rPr lang="en-US" sz="1600" b="1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BFAS</a:t>
            </a:r>
            <a:r>
              <a:rPr lang="en-US" sz="1600" b="1" dirty="0" err="1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开放性量表</a:t>
            </a:r>
            <a:r>
              <a:rPr lang="zh-CN" altLang="en-US" sz="1600" b="1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（</a:t>
            </a:r>
            <a:r>
              <a:rPr lang="en-US" sz="1600" b="1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 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Big Five Aspect 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Scales</a:t>
            </a: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）</a:t>
            </a:r>
            <a:endParaRPr lang="en-US" altLang="zh-CN" sz="1600" dirty="0" smtClean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	</a:t>
            </a: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√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体验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开放性（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Openness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）：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10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题，对应审美、感知与情感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投入</a:t>
            </a:r>
            <a:endParaRPr lang="en-US" altLang="zh-CN" dirty="0" smtClean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	 </a:t>
            </a:r>
            <a:r>
              <a:rPr lang="en-US" altLang="zh-CN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智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识开放性（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Intellect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）：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10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题，对应智力、思辨与认知投入</a:t>
            </a:r>
            <a:endParaRPr lang="en-US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• 行为任务：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动物类别语义流畅性任务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（60秒内说出尽可能多的动物名称）</a:t>
            </a:r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•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分析层面：构建群体层面语义网络，</a:t>
            </a:r>
            <a:r>
              <a:rPr lang="en-US" sz="1600" dirty="0" err="1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比较两组网络拓扑差异</a:t>
            </a:r>
            <a:endParaRPr lang="en-US" sz="1600" dirty="0" smtClean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defRPr/>
            </a:pP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8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三、研究逻辑</a:t>
            </a:r>
            <a:endParaRPr lang="en-US" sz="1800" b="1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被试作答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 →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动物词汇产出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 →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构建语义关联网络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 →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网络结构指标分析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</p:txBody>
      </p:sp>
      <p:sp>
        <p:nvSpPr>
          <p:cNvPr id="4" name="折角形 3"/>
          <p:cNvSpPr/>
          <p:nvPr/>
        </p:nvSpPr>
        <p:spPr>
          <a:xfrm>
            <a:off x="8128592" y="4183912"/>
            <a:ext cx="3551274" cy="2360428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46558" y="4534785"/>
            <a:ext cx="305154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dirty="0"/>
              <a:t>主试向被试给出统一指导语，要求其在固定</a:t>
            </a:r>
            <a:r>
              <a:rPr lang="zh-CN" altLang="en-US" sz="1200" dirty="0" smtClean="0"/>
              <a:t>时间内</a:t>
            </a:r>
            <a:r>
              <a:rPr lang="zh-CN" altLang="en-US" sz="1200" dirty="0"/>
              <a:t>，尽可能多地说出 </a:t>
            </a:r>
            <a:r>
              <a:rPr lang="en-US" altLang="zh-CN" sz="1200" dirty="0"/>
              <a:t>/ </a:t>
            </a:r>
            <a:r>
              <a:rPr lang="zh-CN" altLang="en-US" sz="1200" dirty="0"/>
              <a:t>写下属于 “动物” 类别的具体词汇</a:t>
            </a:r>
            <a:r>
              <a:rPr lang="zh-CN" altLang="en-US" sz="1200" dirty="0" smtClean="0"/>
              <a:t>。</a:t>
            </a:r>
            <a:endParaRPr lang="en-US" altLang="zh-CN" sz="1200" dirty="0" smtClean="0"/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dirty="0" smtClean="0"/>
              <a:t>禁止</a:t>
            </a:r>
            <a:r>
              <a:rPr lang="zh-CN" altLang="en-US" sz="1200" dirty="0"/>
              <a:t>重复、禁止说出非动物类词汇，通常不允许使用专有名称（如 “佩奇”）</a:t>
            </a:r>
            <a:r>
              <a:rPr lang="zh-CN" altLang="en-US" sz="1200" dirty="0" smtClean="0"/>
              <a:t>。</a:t>
            </a:r>
            <a:endParaRPr lang="en-US" altLang="zh-CN" sz="1200" dirty="0" smtClean="0"/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dirty="0" smtClean="0"/>
              <a:t>施</a:t>
            </a:r>
            <a:r>
              <a:rPr lang="zh-CN" altLang="en-US" sz="1200" dirty="0"/>
              <a:t>测结束后对数据清洗：剔除重复项、合并单复数等词形变体（如将</a:t>
            </a:r>
            <a:r>
              <a:rPr lang="en-US" altLang="zh-CN" sz="1200" dirty="0"/>
              <a:t>cats</a:t>
            </a:r>
            <a:r>
              <a:rPr lang="zh-CN" altLang="en-US" sz="1200" dirty="0"/>
              <a:t>统一为</a:t>
            </a:r>
            <a:r>
              <a:rPr lang="en-US" altLang="zh-CN" sz="1200" dirty="0"/>
              <a:t>cat</a:t>
            </a:r>
            <a:r>
              <a:rPr lang="zh-CN" altLang="en-US" sz="1200" dirty="0"/>
              <a:t>）、排除不符合类别的错误回答</a:t>
            </a:r>
            <a:r>
              <a:rPr lang="zh-CN" altLang="en-US" sz="1200" dirty="0" smtClean="0"/>
              <a:t>。如，</a:t>
            </a:r>
            <a:r>
              <a:rPr lang="en-US" altLang="zh-CN" sz="1200" dirty="0" err="1" smtClean="0"/>
              <a:t>SemNetToolbox</a:t>
            </a:r>
            <a:r>
              <a:rPr lang="zh-CN" altLang="en-US" sz="1200" dirty="0" smtClean="0"/>
              <a:t>包</a:t>
            </a:r>
            <a:endParaRPr lang="zh-CN" altLang="en-US" sz="1200" dirty="0"/>
          </a:p>
        </p:txBody>
      </p:sp>
      <p:sp>
        <p:nvSpPr>
          <p:cNvPr id="7" name="文本框 6"/>
          <p:cNvSpPr txBox="1"/>
          <p:nvPr/>
        </p:nvSpPr>
        <p:spPr>
          <a:xfrm>
            <a:off x="8766544" y="4279556"/>
            <a:ext cx="2546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动物类别语义流畅性任务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6350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原研究数据分析流程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940391" y="1395228"/>
            <a:ext cx="1016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一、完整分析链路</a:t>
            </a:r>
            <a:endParaRPr lang="en-US" sz="1100" dirty="0"/>
          </a:p>
          <a:p>
            <a:pPr indent="381000"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1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语义流畅数据清洗与标准化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indent="381000">
              <a:lnSpc>
                <a:spcPct val="150000"/>
              </a:lnSpc>
              <a:defRPr/>
            </a:pP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2.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构建词汇共现矩阵，计算余弦相似度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indent="381000">
              <a:lnSpc>
                <a:spcPct val="150000"/>
              </a:lnSpc>
              <a:defRPr/>
            </a:pP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3.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TMFG（三角最大过滤图）提取网络骨干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indent="381000">
              <a:lnSpc>
                <a:spcPct val="150000"/>
              </a:lnSpc>
              <a:defRPr/>
            </a:pP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4.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计算核心网络指标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indent="381000">
              <a:lnSpc>
                <a:spcPct val="150000"/>
              </a:lnSpc>
              <a:defRPr/>
            </a:pP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5.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稳定性与统计检验（随机网络零模型检验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 &amp;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无放回节点Bootstrap检验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）</a:t>
            </a:r>
          </a:p>
        </p:txBody>
      </p:sp>
      <p:sp>
        <p:nvSpPr>
          <p:cNvPr id="4" name="AutoShape 4"/>
          <p:cNvSpPr/>
          <p:nvPr/>
        </p:nvSpPr>
        <p:spPr>
          <a:xfrm>
            <a:off x="889000" y="4568456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二、核心考察指标</a:t>
            </a:r>
            <a:endParaRPr lang="en-US" sz="1100" dirty="0"/>
          </a:p>
          <a:p>
            <a:pPr indent="381000">
              <a:lnSpc>
                <a:spcPct val="150000"/>
              </a:lnSpc>
              <a:defRPr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ASPL（平均最短路径长度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）：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反映网络整体连通效率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indent="381000">
              <a:lnSpc>
                <a:spcPct val="150000"/>
              </a:lnSpc>
              <a:defRPr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CC（聚类系数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）：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反映网络局部聚集程度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indent="381000">
              <a:lnSpc>
                <a:spcPct val="150000"/>
              </a:lnSpc>
              <a:defRPr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Q（模块度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）：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反映网络模块化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/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分隔化水平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原研究主要结果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63282"/>
              </p:ext>
            </p:extLst>
          </p:nvPr>
        </p:nvGraphicFramePr>
        <p:xfrm>
          <a:off x="2414476" y="1808717"/>
          <a:ext cx="7363047" cy="180635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454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4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指标</a:t>
                      </a:r>
                      <a:endParaRPr lang="en-US" sz="1050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低开放性组</a:t>
                      </a:r>
                      <a:endParaRPr lang="en-US" sz="1050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高开放性组</a:t>
                      </a:r>
                      <a:endParaRPr lang="en-US" sz="105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8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ASPL</a:t>
                      </a:r>
                      <a:endParaRPr lang="en-US" sz="1050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3.19</a:t>
                      </a:r>
                      <a:endParaRPr lang="en-US" sz="1050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2.84</a:t>
                      </a:r>
                      <a:endParaRPr lang="en-US" sz="105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8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CC</a:t>
                      </a:r>
                      <a:endParaRPr lang="en-US" sz="105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1.03</a:t>
                      </a:r>
                      <a:endParaRPr lang="en-US" sz="1050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1.05</a:t>
                      </a:r>
                      <a:endParaRPr lang="en-US" sz="1050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8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Q</a:t>
                      </a:r>
                      <a:endParaRPr lang="en-US" sz="105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0.590</a:t>
                      </a:r>
                      <a:endParaRPr lang="en-US" sz="1050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0.521</a:t>
                      </a:r>
                      <a:endParaRPr lang="en-US" sz="1050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AutoShape 4"/>
          <p:cNvSpPr/>
          <p:nvPr/>
        </p:nvSpPr>
        <p:spPr>
          <a:xfrm>
            <a:off x="1223335" y="4238846"/>
            <a:ext cx="1016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高开放性组呈现更低的ASPL、更高的CC、更低的Q，说明其语义网络</a:t>
            </a:r>
            <a:r>
              <a:rPr lang="en-US" sz="16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lvl="3" indent="-20320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整体连通性更强，概念间通达效率更高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lvl="3" indent="-20320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局部语义聚类更清晰，组织性更好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lvl="3" indent="-20320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模块化程度更低，语义联结更灵活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lvl="3" indent="-20320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整体符合“小世界”网络特征，支持远距离联想与创造性思维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647019" y="353237"/>
            <a:ext cx="312006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本研究复现目标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2174949" y="1283585"/>
            <a:ext cx="7620000" cy="42931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一、复现原研究核心分析链路</a:t>
            </a:r>
            <a:endParaRPr lang="en-US" sz="1100" dirty="0"/>
          </a:p>
          <a:p>
            <a:pPr indent="0"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1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语义相似度矩阵与网络构建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indent="0"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2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三项核心网络指标计算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indent="0"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3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随机网络零模型比较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indent="0"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4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节点Bootstrap稳定性检验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indent="0"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5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. 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高/</a:t>
            </a:r>
            <a:r>
              <a:rPr lang="en-US" sz="1600" dirty="0" err="1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低开放性组的网络结构差异比较</a:t>
            </a:r>
            <a:endParaRPr lang="en-US" sz="1600" dirty="0" smtClean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indent="0">
              <a:lnSpc>
                <a:spcPct val="150000"/>
              </a:lnSpc>
              <a:defRPr/>
            </a:pP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6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二、双重可复现性检验维度</a:t>
            </a:r>
            <a:endParaRPr lang="en-US" sz="1600" b="1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•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结果可复现性：数值结果能否完全匹配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indent="0"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•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推论可复现性：研究结论与方向能否一致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05498" y="311888"/>
            <a:ext cx="2997791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数据与软件环境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962837" y="3706628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运行环境：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软件为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 R 4.5.3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，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	</a:t>
            </a:r>
            <a:r>
              <a:rPr lang="en-US" sz="1600" dirty="0" err="1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核心依赖包包括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SemNeT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,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NetworkToolbox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,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igraph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, 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psych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962837" y="1527545"/>
            <a:ext cx="1066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50000"/>
              </a:lnSpc>
              <a:defRPr/>
            </a:pPr>
            <a:r>
              <a:rPr lang="en-US" sz="16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</a:t>
            </a:r>
            <a:r>
              <a:rPr lang="en-US" sz="1600" b="1" i="0" u="none" strike="noStrike" dirty="0" smtClean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indent="0">
              <a:lnSpc>
                <a:spcPct val="150000"/>
              </a:lnSpc>
              <a:defRPr/>
            </a:pP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原作者公开于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OSF平台（osf.io/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craky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/），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核心文件为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 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`FINAL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open.csv`、`FINAL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 fluency.csv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`。</a:t>
            </a:r>
          </a:p>
          <a:p>
            <a:pPr indent="0">
              <a:lnSpc>
                <a:spcPct val="150000"/>
              </a:lnSpc>
              <a:defRPr/>
            </a:pPr>
            <a:r>
              <a:rPr lang="en-US" sz="1600" dirty="0" err="1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样本规模保留原研究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N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=516（两组各258人），并补全2例错误编码的全零行数据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，</a:t>
            </a:r>
          </a:p>
          <a:p>
            <a:pPr indent="0">
              <a:lnSpc>
                <a:spcPct val="150000"/>
              </a:lnSpc>
              <a:defRPr/>
            </a:pPr>
            <a:r>
              <a:rPr lang="en-US" sz="1600" dirty="0" err="1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同时新增节点标准化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（拼写、大小写统一）处理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。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441" y="565297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复现核心障碍：兼容性问题</a:t>
            </a:r>
            <a:endParaRPr lang="en-US" sz="1100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676483"/>
              </p:ext>
            </p:extLst>
          </p:nvPr>
        </p:nvGraphicFramePr>
        <p:xfrm>
          <a:off x="1016000" y="2032000"/>
          <a:ext cx="10100339" cy="385312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885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7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7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18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 baseline="0" dirty="0" err="1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功能模块</a:t>
                      </a:r>
                      <a:endParaRPr lang="en-US" sz="1100" baseline="0" dirty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 baseline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原研究（2018版）</a:t>
                      </a:r>
                      <a:endParaRPr lang="en-US" sz="1100" baseline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 baseline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当前R 4.5.3环境</a:t>
                      </a:r>
                      <a:endParaRPr lang="en-US" sz="1100" baseline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18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节点匹配equate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()</a:t>
                      </a:r>
                      <a:endParaRPr lang="en-US" sz="1100" baseline="0" dirty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返回rmatA矩阵对象</a:t>
                      </a:r>
                      <a:endParaRPr lang="en-US" sz="1100" baseline="0" dirty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返回finLow等列表结构</a:t>
                      </a:r>
                      <a:endParaRPr lang="en-US" sz="1100" baseline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18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相似度计算</a:t>
                      </a:r>
                      <a:endParaRPr lang="en-US" sz="1100" baseline="0" dirty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内置jaccard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()/</a:t>
                      </a:r>
                      <a:r>
                        <a:rPr lang="en-US" sz="1400" b="0" i="0" u="none" strike="noStrike" baseline="0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余弦计算函数</a:t>
                      </a:r>
                      <a:r>
                        <a:rPr lang="en-US" altLang="zh-CN" sz="1400" b="0" i="0" u="none" strike="noStrike" baseline="0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cosine</a:t>
                      </a:r>
                      <a:endParaRPr lang="en-US" sz="1100" baseline="0" dirty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相关函数已被移除</a:t>
                      </a:r>
                      <a:endParaRPr lang="en-US" sz="1100" baseline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18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TMFG网络构建</a:t>
                      </a:r>
                      <a:endParaRPr lang="en-US" sz="1100" baseline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直接返回邻接矩阵</a:t>
                      </a:r>
                      <a:endParaRPr lang="en-US" sz="1100" baseline="0" dirty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返回list对象，邻接矩阵存储于$A中</a:t>
                      </a:r>
                      <a:endParaRPr lang="en-US" sz="1100" baseline="0" dirty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18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Bootstrap检验</a:t>
                      </a:r>
                      <a:endParaRPr lang="en-US" sz="1100" baseline="0" dirty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SemNet内置partboot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()</a:t>
                      </a:r>
                      <a:endParaRPr lang="en-US" sz="1100" baseline="0" dirty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对应函数已被移除</a:t>
                      </a:r>
                      <a:endParaRPr lang="en-US" sz="1100" baseline="0" dirty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18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网络指标计算</a:t>
                      </a:r>
                      <a:endParaRPr lang="en-US" sz="1100" baseline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NetworkToolbox内置函数</a:t>
                      </a:r>
                      <a:endParaRPr lang="en-US" sz="1100" baseline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igraph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 2.x接口变更</a:t>
                      </a:r>
                      <a:endParaRPr lang="en-US" sz="1100" baseline="0" dirty="0"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441" y="203791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数据预处理详解①：节点标准化处理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70441" y="1344782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为什么要做：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00000" y="1694782"/>
            <a:ext cx="10800000" cy="75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textcleaner() 拼写校正后，516名被试 × 35个反应槎位中共出现489个唯一动物词节点，</a:t>
            </a:r>
          </a:p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但其中包含大量大小写不一致、拼写变体、甚至复合词错误，必须先标准化才能进入网络构建。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70441" y="2570000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具体做法（节点标准化代码）：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00000" y="2890000"/>
            <a:ext cx="10800000" cy="1701878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6350" cap="flat" cmpd="sng">
            <a:solidFill>
              <a:srgbClr val="DADADA"/>
            </a:solidFill>
            <a:prstDash val="solid"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new_names &lt;- tolower(old_names)                  # ① 大小写统一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new_names[new_names=="racoon"]  &lt;- "raccoon"     # ② 拼写变体合并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new_names[new_names=="cheeta"]  &lt;- "cheetah"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merged_df &lt;- sapply(unique(new_names), function(nm){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  cols &lt;- which(new_names == nm)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  as.numeric(rowSums(temp_df[, cols, drop=FALSE]) &gt; 0)  # 同义列取并集合并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})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00000" y="4861983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改进结果：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00000" y="5200000"/>
            <a:ext cx="10800000" cy="65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重复/变体节点（如 tiger/Tiger、racoon/raccoon、cheeta/cheetah）被自动识别合并，</a:t>
            </a:r>
          </a:p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并额外修正了 “catefrog” 这类复合词错误（拆分还原为 cat、frog 两个独立反应）。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441" y="203791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数据预处理详解②：手动校正与个案补全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70441" y="1500000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为什么要做：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00000" y="1820000"/>
            <a:ext cx="10800000" cy="95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textcleaner() 的交互式校正只能处理“机器能识别的”拼写错误，部分严重变体词</a:t>
            </a:r>
          </a:p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（如 hourse→horse、squirrell→squirrel、sog→dog）仍需人工逐条确认；</a:t>
            </a:r>
          </a:p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另有2例被试（Case 386、Case 499）清洗后反应总数为0，经核查为编码错误而非真实空白。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70441" y="2902703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具体做法（人工校正代码）：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70441" y="3302217"/>
            <a:ext cx="10800000" cy="1300000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6350" cap="flat" cmpd="sng">
            <a:solidFill>
              <a:srgbClr val="DADADA"/>
            </a:solidFill>
            <a:prstDash val="solid"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# 依据原始文本反应，人工补全全零行（编码错误个案）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con[386, c("cat","dog","fish","elephant","tiger","zebra",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           "monkey","giraffe","lion","dolphin","chicken","squirrel")] &lt;- 1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con[499, c("dog","cat","mouse","moose","horse","lion",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           "tiger","bear","deer","pig","cow")] &lt;- 1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70441" y="4814434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改进结果 / 报告说明：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70441" y="5213948"/>
            <a:ext cx="10800000" cy="65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全部516个个案均有有效反应（无全零行残留）；该步骤涉及人工判断，</a:t>
            </a:r>
          </a:p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已将校正前后的对照记录（moniker 表）保留作为可复现性凭证一并附在报告附录中。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09847" y="574749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方法学重构：兼容性解决方案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601972" y="1163085"/>
            <a:ext cx="10668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20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1.</a:t>
            </a:r>
            <a:r>
              <a:rPr lang="en-US" sz="1600" b="1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节点匹配重构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: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适配新版SemNeT的equate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()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返回结构，手动提取两组匹配后的节点矩阵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。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</a:endParaRPr>
          </a:p>
          <a:p>
            <a:pPr>
              <a:lnSpc>
                <a:spcPct val="20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2.</a:t>
            </a:r>
            <a:r>
              <a:rPr lang="en-US" sz="1600" b="1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相似度计算重构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: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自定义Jaccard相似度函数替代原内置函数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。</a:t>
            </a:r>
          </a:p>
          <a:p>
            <a:pPr>
              <a:lnSpc>
                <a:spcPct val="20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3</a:t>
            </a:r>
            <a:r>
              <a:rPr lang="en-US" sz="1600" b="1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.TMFG网络重构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: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通过`NetworkToolbox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::TMFG(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simMatrix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)$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A`提取邻接矩阵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。</a:t>
            </a:r>
          </a:p>
          <a:p>
            <a:pPr>
              <a:lnSpc>
                <a:spcPct val="20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4.</a:t>
            </a:r>
            <a:r>
              <a:rPr lang="en-US" sz="1600" b="1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指标计算重构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: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统一使用igraph包函数计算ASPL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, CC, Q。</a:t>
            </a:r>
          </a:p>
          <a:p>
            <a:pPr>
              <a:lnSpc>
                <a:spcPct val="20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5</a:t>
            </a:r>
            <a:r>
              <a:rPr lang="en-US" sz="1600" b="1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.Bootstrap与随机网络重构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: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自编程实现无放回节点抽样与t检验；使用`sample_gnm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()`</a:t>
            </a:r>
            <a:r>
              <a:rPr lang="en-US" sz="1600" dirty="0" err="1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生成随机网络</a:t>
            </a:r>
            <a:endParaRPr lang="en-US" sz="1800" b="0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441" y="203791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兼容性详解①：节点匹配 equate()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70441" y="1500000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原因（环境差异）：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00000" y="1820000"/>
            <a:ext cx="10800000" cy="75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2018版 SemNetToolbox 的 equate() 直接返回两个矩阵对象；当前 </a:t>
            </a:r>
            <a:r>
              <a:rPr lang="en-US" sz="1400" b="0" dirty="0" err="1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SemNetCleaner</a:t>
            </a: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 </a:t>
            </a:r>
            <a:r>
              <a:rPr lang="en-US" sz="1400" b="0" dirty="0" smtClean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1.3.7中函数返回结构多次变化</a:t>
            </a: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，字段名必须实测确认，调试中曾因猜测错误字段名导致返回 NULL。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70441" y="2604469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具体做法：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70441" y="3017234"/>
            <a:ext cx="10800000" cy="1609113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6350" cap="flat" cmpd="sng">
            <a:solidFill>
              <a:srgbClr val="DADADA"/>
            </a:solidFill>
            <a:prstDash val="solid"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finLow  &lt;- finalize(deLow,  minCase = 2)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finHigh &lt;- finalize(deHigh, minCase = 2)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eq_res  &lt;- equate(finLow, finHigh)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lowMat  &lt;- eq_res$rmatA; highMat &lt;- eq_res$rmatB   # 实测确认字段名后取用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cat("lowMat 维度：", dim(lowMat), "\n")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70441" y="4846347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改进结果：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70441" y="5166347"/>
            <a:ext cx="10800000" cy="65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实测确认匹配后两组共享节点数为165个（258名被试 × 165个共同动物词矩阵），</a:t>
            </a:r>
          </a:p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节点规模与原文量级一致，为后续相似度计算提供统一、可比的基础。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441" y="203791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兼容性详解②：相似度计算（cosine → Jaccard）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70441" y="1500000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原因（环境差异）：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00000" y="1820000"/>
            <a:ext cx="10800000" cy="65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原文使用余弦相似度（公式1），由 NetworkToolbox 内置 cosine() 计算；</a:t>
            </a:r>
          </a:p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该函数及同类相似度函数在当前 NetworkToolbox 版本中已被移除，无法直接调用。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70441" y="2521077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具体做法（自定义函数替代）：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00000" y="2948923"/>
            <a:ext cx="10800000" cy="1450000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6350" cap="flat" cmpd="sng">
            <a:solidFill>
              <a:srgbClr val="DADADA"/>
            </a:solidFill>
            <a:prstDash val="solid"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jaccard_similarity &lt;- function(mat){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  for(i in seq_len(p)) for(j in i:p){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    inter &lt;- sum(mat[,i]==1 &amp; mat[,j]==1)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    union &lt;- sum(mat[,i]==1 | mat[,j]==1)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    sim[i,j] &lt;- sim[j,i] &lt;- ifelse(union==0, NA, inter/union)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} }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70441" y="4704192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改进结果 / 方法学限制：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00000" y="5100000"/>
            <a:ext cx="10800000" cy="65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Jaccard 取值范围为[0,1]、零值占比高于原文 cosine </a:t>
            </a:r>
            <a:r>
              <a:rPr lang="en-US" sz="1400" b="0" dirty="0" err="1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矩阵，</a:t>
            </a:r>
            <a:r>
              <a:rPr lang="en-US" sz="1400" b="0" dirty="0" err="1" smtClean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是后续网络结构绝对数值与原文存在偏差的主要来源之一</a:t>
            </a:r>
            <a:r>
              <a:rPr lang="en-US" sz="1400" b="0" dirty="0" err="1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，已在结论中作为限制单独说明</a:t>
            </a: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68154" y="565297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sz="3200" b="1" dirty="0" err="1" smtClean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Jacaard</a:t>
            </a:r>
            <a:r>
              <a:rPr lang="zh-CN" altLang="en-US" sz="3200" b="1" dirty="0" smtClean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相似度矩阵构建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343244" y="1392866"/>
            <a:ext cx="9719933" cy="5257799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90500" rIns="254000" bIns="190500" rtlCol="0" anchor="ctr" anchorCtr="0"/>
          <a:lstStyle/>
          <a:p>
            <a:pPr>
              <a:defRPr/>
            </a:pP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自定义</a:t>
            </a:r>
            <a:r>
              <a:rPr lang="en-US" altLang="zh-CN" sz="1200" dirty="0" err="1" smtClean="0">
                <a:latin typeface="Consolas"/>
                <a:ea typeface="Consolas"/>
                <a:cs typeface="Consolas"/>
                <a:sym typeface="Consolas"/>
              </a:rPr>
              <a:t>Jaccard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函数</a:t>
            </a:r>
            <a:endParaRPr lang="en-US" altLang="zh-CN" sz="1200" dirty="0" smtClean="0">
              <a:latin typeface="Consolas"/>
              <a:ea typeface="Consolas"/>
              <a:cs typeface="Consolas"/>
              <a:sym typeface="Consolas"/>
            </a:endParaRPr>
          </a:p>
          <a:p>
            <a:pPr>
              <a:defRPr/>
            </a:pPr>
            <a:r>
              <a:rPr lang="en-US" altLang="zh-CN" sz="1200" dirty="0" err="1" smtClean="0">
                <a:latin typeface="Consolas"/>
                <a:ea typeface="Consolas"/>
                <a:cs typeface="Consolas"/>
                <a:sym typeface="Consolas"/>
              </a:rPr>
              <a:t>jaccard_similarity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&lt;- function(mat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){</a:t>
            </a:r>
            <a:endParaRPr lang="en-US" altLang="zh-CN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 mat &lt;-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as.matrix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(mat)          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确保输入为矩阵格式</a:t>
            </a:r>
          </a:p>
          <a:p>
            <a:pPr>
              <a:defRPr/>
            </a:pP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p 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&lt;-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ncol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(mat)                 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获取节点（词语）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总数  </a:t>
            </a:r>
          </a:p>
          <a:p>
            <a:pPr>
              <a:defRPr/>
            </a:pP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sim &lt;- matrix(                 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初始化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p×p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的相似度矩阵，填充 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NA</a:t>
            </a:r>
          </a:p>
          <a:p>
            <a:pPr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   NA,</a:t>
            </a:r>
          </a:p>
          <a:p>
            <a:pPr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nrow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= p,</a:t>
            </a:r>
          </a:p>
          <a:p>
            <a:pPr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ncol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= p</a:t>
            </a:r>
          </a:p>
          <a:p>
            <a:pPr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>
              <a:defRPr/>
            </a:pP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altLang="zh-CN" sz="1200" dirty="0" err="1" smtClean="0">
                <a:latin typeface="Consolas"/>
                <a:ea typeface="Consolas"/>
                <a:cs typeface="Consolas"/>
                <a:sym typeface="Consolas"/>
              </a:rPr>
              <a:t>colnames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(sim) &lt;- </a:t>
            </a:r>
            <a:r>
              <a:rPr lang="en-US" altLang="zh-CN" sz="1200" dirty="0" err="1" smtClean="0">
                <a:latin typeface="Consolas"/>
                <a:ea typeface="Consolas"/>
                <a:cs typeface="Consolas"/>
                <a:sym typeface="Consolas"/>
              </a:rPr>
              <a:t>colnames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(mat) # 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设置列名为节点名称</a:t>
            </a:r>
          </a:p>
          <a:p>
            <a:pPr>
              <a:defRPr/>
            </a:pP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rownames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(sim) &lt;-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colnames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(mat) 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设置行名为节点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名称</a:t>
            </a:r>
          </a:p>
          <a:p>
            <a:pPr>
              <a:defRPr/>
            </a:pP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for(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in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seq_len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(p)){          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外层循环：遍历每个节点 </a:t>
            </a:r>
            <a:r>
              <a:rPr lang="en-US" altLang="zh-CN" sz="1200" dirty="0" err="1" smtClean="0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>
              <a:defRPr/>
            </a:pP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    for(j in i:p){              # 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内层循环：从 </a:t>
            </a:r>
            <a:r>
              <a:rPr lang="en-US" altLang="zh-CN" sz="1200" dirty="0" err="1" smtClean="0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到 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（避免重复计算，仅计算上三角）</a:t>
            </a:r>
          </a:p>
          <a:p>
            <a:pPr>
              <a:defRPr/>
            </a:pP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inter &lt;- sum(mat[, </a:t>
            </a:r>
            <a:r>
              <a:rPr lang="en-US" altLang="zh-CN" sz="1200" dirty="0" err="1" smtClean="0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] == 1 &amp; mat[, j] == 1)   # 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计算交集：同时出现 </a:t>
            </a:r>
            <a:r>
              <a:rPr lang="en-US" altLang="zh-CN" sz="1200" dirty="0" err="1" smtClean="0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和 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j 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的被试数</a:t>
            </a:r>
          </a:p>
          <a:p>
            <a:pPr>
              <a:defRPr/>
            </a:pP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union &lt;- sum(mat[, </a:t>
            </a:r>
            <a:r>
              <a:rPr lang="en-US" altLang="zh-CN" sz="1200" dirty="0" err="1" smtClean="0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] == 1 | mat[, j] == 1)   # 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计算并集：至少出现 </a:t>
            </a:r>
            <a:r>
              <a:rPr lang="en-US" altLang="zh-CN" sz="1200" dirty="0" err="1" smtClean="0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或 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j 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的被试数</a:t>
            </a:r>
            <a:endParaRPr lang="zh-CN" altLang="en-US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defRPr/>
            </a:pP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value &lt;-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ifelse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(union == 0, NA, inter / union) #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Jaccard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交集 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/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并集；若并集为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则返回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NA</a:t>
            </a:r>
            <a:endParaRPr lang="en-US" altLang="zh-CN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     sim[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, j] &lt;- value         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填充上三角</a:t>
            </a:r>
          </a:p>
          <a:p>
            <a:pPr>
              <a:defRPr/>
            </a:pP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sim[j,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] &lt;- value         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对称填充下三角</a:t>
            </a:r>
          </a:p>
          <a:p>
            <a:pPr>
              <a:defRPr/>
            </a:pP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>
              <a:defRPr/>
            </a:pP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  </a:t>
            </a:r>
          </a:p>
          <a:p>
            <a:pPr>
              <a:defRPr/>
            </a:pP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return(sim)                    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返回对称的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Jaccard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相似度矩阵</a:t>
            </a:r>
          </a:p>
          <a:p>
            <a:pPr>
              <a:defRPr/>
            </a:pPr>
            <a:r>
              <a:rPr lang="en-US" altLang="zh-CN" sz="1200" dirty="0" smtClean="0"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>
              <a:defRPr/>
            </a:pPr>
            <a:endParaRPr lang="en-US" sz="1200" b="0" i="0" u="none" strike="noStrik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zh-CN" altLang="en-US" sz="1200" dirty="0" smtClean="0">
                <a:latin typeface="Consolas"/>
                <a:ea typeface="Consolas"/>
                <a:cs typeface="Consolas"/>
                <a:sym typeface="Consolas"/>
              </a:rPr>
              <a:t>计算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Jaccard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相似度（节点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×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节点）</a:t>
            </a:r>
          </a:p>
          <a:p>
            <a:pPr>
              <a:defRPr/>
            </a:pP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simLow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&lt;-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jaccard_similarity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lowMat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)   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调用函数，传入低分组矩阵</a:t>
            </a:r>
          </a:p>
          <a:p>
            <a:pPr>
              <a:defRPr/>
            </a:pP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simHigh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&lt;-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jaccard_similarity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highMat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)  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调用函数，传入高分组矩阵</a:t>
            </a:r>
            <a:endParaRPr lang="en-US" sz="1200" b="0" i="0" u="none" strike="noStrik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54324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441" y="203791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兼容性详解③：TMFG 网络构建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70441" y="1500000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原因（环境差异）：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00000" y="1820000"/>
            <a:ext cx="10800000" cy="11933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5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旧版 TMFG() 直接返回 n×n 邻接矩阵；新版 NetworkToolbox::TMFG() </a:t>
            </a:r>
            <a:r>
              <a:rPr lang="en-US" sz="1400" b="0" dirty="0" err="1" smtClean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返回包含</a:t>
            </a:r>
            <a:r>
              <a:rPr lang="en-US" sz="1400" b="0" dirty="0" smtClean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 </a:t>
            </a: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A（邻接矩阵）、M、P 等多个元素的 list </a:t>
            </a:r>
            <a:r>
              <a:rPr lang="en-US" sz="1400" b="0" dirty="0" err="1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对象，直接当矩阵使用会报错</a:t>
            </a:r>
            <a:r>
              <a:rPr lang="en-US" sz="1400" b="0" dirty="0" err="1" smtClean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。</a:t>
            </a:r>
            <a:r>
              <a:rPr lang="en-US" altLang="zh-CN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兼容写法：</a:t>
            </a:r>
            <a:r>
              <a:rPr lang="en-US" altLang="zh-CN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Consolas"/>
              </a:rPr>
              <a:t>adj_matrix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Consolas"/>
              </a:rPr>
              <a:t> &lt;- </a:t>
            </a:r>
            <a:r>
              <a:rPr lang="en-US" altLang="zh-CN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Consolas"/>
              </a:rPr>
              <a:t>NetworkToolbox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Consolas"/>
              </a:rPr>
              <a:t>::TMFG(sim)$</a:t>
            </a:r>
            <a:r>
              <a:rPr lang="en-US" altLang="zh-CN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Consolas"/>
              </a:rPr>
              <a:t>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利用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TMFG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（三角最大化过滤图）算法从</a:t>
            </a:r>
            <a:r>
              <a:rPr lang="en-US" altLang="zh-CN" dirty="0" err="1">
                <a:latin typeface="仿宋" panose="02010609060101010101" pitchFamily="49" charset="-122"/>
                <a:ea typeface="仿宋" panose="02010609060101010101" pitchFamily="49" charset="-122"/>
              </a:rPr>
              <a:t>Jaccard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相似矩阵中提取稀疏的加权网络，保留重要连接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30000"/>
              </a:lnSpc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Consolas"/>
            </a:endParaRPr>
          </a:p>
          <a:p>
            <a:pPr marL="0" indent="0">
              <a:lnSpc>
                <a:spcPct val="130000"/>
              </a:lnSpc>
            </a:pPr>
            <a:endParaRPr lang="en-US" sz="1400" b="0" dirty="0">
              <a:solidFill>
                <a:srgbClr val="333333"/>
              </a:solidFill>
              <a:latin typeface="仿宋"/>
              <a:ea typeface="仿宋"/>
              <a:cs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70441" y="3297202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具体做法：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00000" y="3721161"/>
            <a:ext cx="10800000" cy="700000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6350" cap="flat" cmpd="sng">
            <a:solidFill>
              <a:srgbClr val="DADADA"/>
            </a:solidFill>
            <a:prstDash val="solid"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netLow  &lt;- NetworkToolbox::TMFG(simLow)$A   # 取 list 中的邻接矩阵元素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netHigh &lt;- NetworkToolbox::TMFG(simHigh)$A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70441" y="4629079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改进结果：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00000" y="5156997"/>
            <a:ext cx="10800000" cy="85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成功提取出与165个节点匹配的稀疏骨干网络；但由于上游相似度指标已由</a:t>
            </a:r>
          </a:p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cosine 改为 Jaccard，骨干网络边权分布与原文存在系统性差异，是数值偏差的直接传导环节。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441" y="203791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兼容性详解④：网络指标计算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70441" y="1500000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原因（环境差异）：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00000" y="1820000"/>
            <a:ext cx="10800000" cy="85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原文用 NetworkToolbox 内置函数一次性计算 ASPL/CC/Q；当前 </a:t>
            </a:r>
            <a:r>
              <a:rPr lang="en-US" sz="1400" b="0" dirty="0" err="1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igraph</a:t>
            </a: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 </a:t>
            </a:r>
            <a:r>
              <a:rPr lang="en-US" sz="1400" b="0" dirty="0" smtClean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2.x对距离计算</a:t>
            </a: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、</a:t>
            </a:r>
            <a:r>
              <a:rPr lang="en-US" sz="1400" b="0" dirty="0" smtClean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模块度计算等接口参数已变更</a:t>
            </a:r>
          </a:p>
          <a:p>
            <a:pPr marL="0" indent="0">
              <a:lnSpc>
                <a:spcPct val="130000"/>
              </a:lnSpc>
            </a:pPr>
            <a:r>
              <a:rPr lang="en-US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	</a:t>
            </a:r>
            <a:r>
              <a:rPr lang="en-US" sz="1400" b="0" dirty="0" smtClean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（</a:t>
            </a: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如 mean_distance() 新增 unconnected 参数），</a:t>
            </a:r>
          </a:p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需统一改用 igraph 体系函数重新实现。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70441" y="2865338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具体做法：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00000" y="3298295"/>
            <a:ext cx="10800000" cy="950000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6350" cap="flat" cmpd="sng">
            <a:solidFill>
              <a:srgbClr val="DADADA"/>
            </a:solidFill>
            <a:prstDash val="solid"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calc_metrics &lt;- function(g) list(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  ASPL = mean_distance(g, unconnected = TRUE),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  CC   = transitivity(g, type = "global"),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  Q    = modularity(cluster_louvain(g)) )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00000" y="4556591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改进结果：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00000" y="4989548"/>
            <a:ext cx="10800000" cy="75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详见“复现结果：全网络指标对比”——ASPL、CC 的组间差异方向与原文一致，</a:t>
            </a:r>
          </a:p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Q 的方向不一致，说明指标迁移本身基本成功，差异主要来自上游相似度算法的变更。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68154" y="565297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3200" b="1" dirty="0" err="1" smtClean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igraph</a:t>
            </a:r>
            <a:r>
              <a:rPr lang="zh-CN" altLang="en-US" sz="32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网络分析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355651" y="2870791"/>
            <a:ext cx="8719291" cy="2844209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90500" rIns="254000" bIns="190500" rtlCol="0" anchor="ctr" anchorCtr="0"/>
          <a:lstStyle/>
          <a:p>
            <a:pPr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# 9.1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二值化</a:t>
            </a:r>
          </a:p>
          <a:p>
            <a:pPr>
              <a:defRPr/>
            </a:pP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bin_low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&lt;-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netLow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bin_low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bin_low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!= 0] &lt;- 1</a:t>
            </a:r>
          </a:p>
          <a:p>
            <a:pPr>
              <a:defRPr/>
            </a:pP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bin_high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&lt;-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netHigh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bin_high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bin_high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!= 0] &lt;- 1</a:t>
            </a:r>
          </a:p>
          <a:p>
            <a:pPr>
              <a:defRPr/>
            </a:pPr>
            <a:endParaRPr lang="en-US" altLang="zh-CN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# 9.2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转换为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igraph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对象</a:t>
            </a:r>
          </a:p>
          <a:p>
            <a:pPr>
              <a:defRPr/>
            </a:pP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g_low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&lt;-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igraph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graph_from_adjacency_matrix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bin_low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, mode = "undirected",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diag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= FALSE)</a:t>
            </a:r>
          </a:p>
          <a:p>
            <a:pPr>
              <a:defRPr/>
            </a:pP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g_high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&lt;-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igraph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graph_from_adjacency_matrix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bin_high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, mode = "undirected",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diag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= FALSE)</a:t>
            </a:r>
          </a:p>
          <a:p>
            <a:pPr>
              <a:defRPr/>
            </a:pPr>
            <a:endParaRPr lang="en-US" altLang="zh-CN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自定义函数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calc_metrics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计算 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ASPL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、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CC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、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Q</a:t>
            </a:r>
          </a:p>
          <a:p>
            <a:pPr>
              <a:defRPr/>
            </a:pP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metrics_low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 &lt;-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calc_metrics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g_low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>
              <a:defRPr/>
            </a:pP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metrics_high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&lt;-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calc_metrics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g_high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en-US" sz="1200" b="0" i="0" u="none" strike="noStrik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55651" y="1616149"/>
            <a:ext cx="8086061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将二值化后的邻接矩阵转为</a:t>
            </a:r>
            <a:r>
              <a:rPr lang="en-US" altLang="zh-CN" sz="1600" dirty="0" err="1">
                <a:latin typeface="仿宋" panose="02010609060101010101" pitchFamily="49" charset="-122"/>
                <a:ea typeface="仿宋" panose="02010609060101010101" pitchFamily="49" charset="-122"/>
              </a:rPr>
              <a:t>igraph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对象，并计算全局网络指标（平均最短路径长度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ASPL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、全局聚类系数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CC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、模块度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Q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262761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95939" y="512135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网络指标计算</a:t>
            </a:r>
            <a:endParaRPr lang="en-US" sz="1100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385922"/>
              </p:ext>
            </p:extLst>
          </p:nvPr>
        </p:nvGraphicFramePr>
        <p:xfrm>
          <a:off x="455428" y="1605517"/>
          <a:ext cx="11126972" cy="341316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00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7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9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842"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指标</a:t>
                      </a:r>
                      <a:endParaRPr lang="en-US" sz="1600" b="1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图论含义</a:t>
                      </a:r>
                      <a:endParaRPr lang="en-US" sz="1600" b="1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计算函数</a:t>
                      </a:r>
                      <a:endParaRPr lang="en-US" sz="1600" b="1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8069"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ASPL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平均最短路径长度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90500" marR="1905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网络中任意两节点间最短路径的平均值，值越小整体连通效率越高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90500" marR="1905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Consolas"/>
                        </a:rPr>
                        <a:t>igraph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Consolas"/>
                        </a:rPr>
                        <a:t>::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Consolas"/>
                        </a:rPr>
                        <a:t>mean_distance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Consolas"/>
                        </a:rPr>
                        <a:t>()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8069"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CC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聚类系数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90500" marR="1905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节点邻居之间互为邻居的比例，值越高局部聚集性越强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90500" marR="1905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Consolas"/>
                        </a:rPr>
                        <a:t>igraph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Consolas"/>
                        </a:rPr>
                        <a:t>::transitivity()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8069"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Q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模块度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90500" marR="1905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网络社区划分的质量，值越高社区分隔越明显、结构越刻板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90500" marR="1905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Consolas"/>
                        </a:rPr>
                        <a:t>igraph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Consolas"/>
                        </a:rPr>
                        <a:t>::modularity(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Consolas"/>
                        </a:rPr>
                        <a:t>cluster_louvain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Consolas"/>
                        </a:rPr>
                        <a:t>())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68154" y="565297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网络构建过程展示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476154" y="1435395"/>
            <a:ext cx="914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20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1.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构建二值响应矩阵（被试×词汇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）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</a:endParaRPr>
          </a:p>
          <a:p>
            <a:pPr>
              <a:lnSpc>
                <a:spcPct val="20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2.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计算Jaccard相似度（词汇×词汇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）</a:t>
            </a:r>
          </a:p>
          <a:p>
            <a:pPr>
              <a:lnSpc>
                <a:spcPct val="20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3.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应用TMFG算法过滤提取骨干网络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20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4.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对骨干网络进行二值化处理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20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5.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转换为igraph网络对象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316665" y="4309139"/>
            <a:ext cx="9144000" cy="1905000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90500" rIns="254000" bIns="1905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计算Jaccard相似度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sim_low</a:t>
            </a:r>
            <a:r>
              <a:rPr lang="en-US" sz="1400" b="0" i="0" u="none" strike="noStrik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&lt;-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jaccard_similarity</a:t>
            </a:r>
            <a:r>
              <a:rPr lang="en-US" sz="1400" b="0" i="0" u="none" strike="noStrik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low_matrix</a:t>
            </a:r>
            <a:r>
              <a:rPr lang="en-US" sz="1400" b="0" i="0" u="none" strike="noStrik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TMFG网络过滤</a:t>
            </a:r>
            <a:endParaRPr lang="en-US" sz="1400" b="0" i="0" u="none" strike="noStrik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tmfg_low</a:t>
            </a:r>
            <a:r>
              <a:rPr lang="en-US" sz="1400" b="0" i="0" u="none" strike="noStrik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&lt;-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NetworkToolbox</a:t>
            </a:r>
            <a:r>
              <a:rPr lang="en-US" sz="1400" b="0" i="0" u="none" strike="noStrik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::TMFG(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sim_low</a:t>
            </a:r>
            <a:r>
              <a:rPr lang="en-US" sz="1400" b="0" i="0" u="none" strike="noStrik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)$A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构建igraph网络</a:t>
            </a:r>
            <a:endParaRPr lang="en-US" sz="1400" b="0" i="0" u="none" strike="noStrik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g_low</a:t>
            </a:r>
            <a:r>
              <a:rPr lang="en-US" sz="1400" b="0" i="0" u="none" strike="noStrik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&lt;-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igraph</a:t>
            </a:r>
            <a:r>
              <a:rPr lang="en-US" sz="1400" b="0" i="0" u="none" strike="noStrik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graph_from_adjacency_matrix</a:t>
            </a:r>
            <a:r>
              <a:rPr lang="en-US" sz="1400" b="0" i="0" u="none" strike="noStrik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tmfg_low</a:t>
            </a:r>
            <a:r>
              <a:rPr lang="en-US" sz="1400" b="0" i="0" u="none" strike="noStrik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mode = "undirected")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441" y="203791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兼容性详解⑤：Bootstrap 与随机网络检验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70441" y="1500000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原因（环境差异）：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00000" y="1820000"/>
            <a:ext cx="10800000" cy="75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原版 SemNetToolbox 内置的无放回节点 Bootstrap 函数 partboot() </a:t>
            </a:r>
            <a:r>
              <a:rPr lang="en-US" sz="1400" b="0" dirty="0" err="1" smtClean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在新版本中已被移除</a:t>
            </a:r>
            <a:r>
              <a:rPr lang="en-US" sz="1400" b="0" dirty="0" smtClean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，</a:t>
            </a:r>
          </a:p>
          <a:p>
            <a:pPr marL="0" indent="0">
              <a:lnSpc>
                <a:spcPct val="130000"/>
              </a:lnSpc>
            </a:pPr>
            <a:r>
              <a:rPr lang="en-US" sz="1400" b="0" dirty="0" smtClean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且 </a:t>
            </a: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Erdős–Rényi 随机网络生成函数接口也发生变化，均无现成替代。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70441" y="2909601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具体做法（自编实现）：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70441" y="3279025"/>
            <a:ext cx="10800000" cy="1300000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6350" cap="flat" cmpd="sng">
            <a:solidFill>
              <a:srgbClr val="DADADA"/>
            </a:solidFill>
            <a:prstDash val="solid"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manual_partboot &lt;- function(mat_low, mat_high, keep_ratio, iter=1000){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  samp &lt;- sample(nodes, keep_n)        # 无放回节点抽样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  ...  # 重新计算 ASPL / CC / Q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Courier New"/>
                <a:cs typeface="Courier New"/>
              </a:rPr>
              <a:t>g_rand &lt;- sample_gnm(n, e, directed = FALSE)   # 替代 Erdős-Rényi 随机网络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70441" y="4912609"/>
            <a:ext cx="10800000" cy="3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defRPr/>
            </a:pPr>
            <a:r>
              <a:rPr lang="en-US" sz="1600" b="1" i="0" u="none" strike="noStrike" dirty="0">
                <a:solidFill>
                  <a:srgbClr val="1E2761"/>
                </a:solidFill>
                <a:latin typeface="Noto Sans SC"/>
                <a:ea typeface="Noto Sans SC"/>
                <a:cs typeface="Noto Sans SC"/>
                <a:sym typeface="Noto Sans SC"/>
              </a:rPr>
              <a:t>改进结果：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00000" y="5338626"/>
            <a:ext cx="10800000" cy="85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详见“复现结果：Bootstrap 稳定性检验”——CC 在5个保留比例下组间差异方向全部稳健，</a:t>
            </a:r>
          </a:p>
          <a:p>
            <a:pPr marL="0" indent="0">
              <a:lnSpc>
                <a:spcPct val="130000"/>
              </a:lnSpc>
            </a:pPr>
            <a:r>
              <a:rPr lang="en-US" sz="1400" b="0" dirty="0">
                <a:solidFill>
                  <a:srgbClr val="333333"/>
                </a:solidFill>
                <a:latin typeface="仿宋"/>
                <a:ea typeface="仿宋"/>
                <a:cs typeface="Noto Sans SC"/>
              </a:rPr>
              <a:t>• ASPL（90%~60%）、Q（80%~50%）方向与原文一致，自编实现成功复现了原文统计逻辑。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68154" y="565297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 dirty="0" smtClean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Bootstrap</a:t>
            </a:r>
            <a:r>
              <a:rPr lang="zh-CN" altLang="en-US" sz="3200" b="1" i="0" u="none" strike="noStrike" dirty="0" smtClean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抽样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274135" y="3407735"/>
            <a:ext cx="9289312" cy="2757228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90500" rIns="254000" bIns="19050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自定义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bootstrap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函数</a:t>
            </a:r>
          </a:p>
          <a:p>
            <a:pPr>
              <a:lnSpc>
                <a:spcPct val="116666"/>
              </a:lnSpc>
              <a:defRPr/>
            </a:pP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manual_partboot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&lt;- function(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mat_low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mat_high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keep_ratio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iter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= 1000) { ... }</a:t>
            </a:r>
          </a:p>
          <a:p>
            <a:pPr>
              <a:lnSpc>
                <a:spcPct val="116666"/>
              </a:lnSpc>
              <a:defRPr/>
            </a:pPr>
            <a:endParaRPr lang="en-US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6666"/>
              </a:lnSpc>
              <a:defRPr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主循环对五个比例进行抽样和检验</a:t>
            </a:r>
          </a:p>
          <a:p>
            <a:pPr>
              <a:lnSpc>
                <a:spcPct val="116666"/>
              </a:lnSpc>
              <a:defRPr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ratios &lt;- c(0.90, 0.80, 0.70, 0.60, 0.50)</a:t>
            </a:r>
          </a:p>
          <a:p>
            <a:pPr>
              <a:lnSpc>
                <a:spcPct val="116666"/>
              </a:lnSpc>
              <a:defRPr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for (r in ratios) {</a:t>
            </a:r>
          </a:p>
          <a:p>
            <a:pPr>
              <a:lnSpc>
                <a:spcPct val="116666"/>
              </a:lnSpc>
              <a:defRPr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boots &lt;-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manual_partboot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netLow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netHigh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keep_ratio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= r,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iter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= 1000)</a:t>
            </a:r>
          </a:p>
          <a:p>
            <a:pPr>
              <a:lnSpc>
                <a:spcPct val="116666"/>
              </a:lnSpc>
              <a:defRPr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t_aspl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&lt;-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t.test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boots$high$ASPL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boots$low$ASPL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var.equal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= TRUE)</a:t>
            </a:r>
          </a:p>
          <a:p>
            <a:pPr>
              <a:lnSpc>
                <a:spcPct val="116666"/>
              </a:lnSpc>
              <a:defRPr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同时输出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Cohen's d</a:t>
            </a:r>
          </a:p>
          <a:p>
            <a:pPr>
              <a:lnSpc>
                <a:spcPct val="116666"/>
              </a:lnSpc>
              <a:defRPr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...</a:t>
            </a:r>
          </a:p>
          <a:p>
            <a:pPr>
              <a:lnSpc>
                <a:spcPct val="116666"/>
              </a:lnSpc>
              <a:defRPr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1200" b="0" i="0" u="none" strike="noStrik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4135" y="1963149"/>
            <a:ext cx="9252098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通过多次随机抽取固定比例（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90%, 80%, 70%, 60%, 50%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）的节点，重复计算网络指标，然后用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t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检验比较高低分组指标差异，并计算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Cohen's d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，评估结果稳定性。</a:t>
            </a:r>
          </a:p>
        </p:txBody>
      </p:sp>
    </p:spTree>
    <p:extLst>
      <p:ext uri="{BB962C8B-B14F-4D97-AF65-F5344CB8AC3E}">
        <p14:creationId xmlns:p14="http://schemas.microsoft.com/office/powerpoint/2010/main" val="226247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817037" y="445155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 dirty="0" smtClean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Bootstrap</a:t>
            </a:r>
            <a:r>
              <a:rPr lang="zh-CN" altLang="en-US" sz="3200" b="1" i="0" u="none" strike="noStrike" dirty="0" smtClean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抽样结果</a:t>
            </a:r>
            <a:endParaRPr lang="en-US" sz="11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40" y="1866414"/>
            <a:ext cx="5275695" cy="16047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239" y="4010246"/>
            <a:ext cx="5275695" cy="160471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421" y="921745"/>
            <a:ext cx="5275695" cy="160471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4635" y="2975117"/>
            <a:ext cx="5275695" cy="160471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115" y="5119977"/>
            <a:ext cx="5275695" cy="160471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66823" y="1355651"/>
            <a:ext cx="2822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90%</a:t>
            </a:r>
            <a:r>
              <a:rPr lang="zh-CN" altLang="en-US" sz="16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节点保留</a:t>
            </a:r>
            <a:endParaRPr lang="zh-CN" altLang="en-US" sz="16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66823" y="3571410"/>
            <a:ext cx="13244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80</a:t>
            </a:r>
            <a:r>
              <a:rPr lang="en-US" altLang="zh-CN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%</a:t>
            </a:r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节点保留</a:t>
            </a:r>
          </a:p>
        </p:txBody>
      </p:sp>
      <p:sp>
        <p:nvSpPr>
          <p:cNvPr id="19" name="矩形 18"/>
          <p:cNvSpPr/>
          <p:nvPr/>
        </p:nvSpPr>
        <p:spPr>
          <a:xfrm>
            <a:off x="6323625" y="473088"/>
            <a:ext cx="1172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70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%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节点保留</a:t>
            </a:r>
          </a:p>
        </p:txBody>
      </p:sp>
      <p:sp>
        <p:nvSpPr>
          <p:cNvPr id="20" name="矩形 19"/>
          <p:cNvSpPr/>
          <p:nvPr/>
        </p:nvSpPr>
        <p:spPr>
          <a:xfrm>
            <a:off x="6323625" y="2571750"/>
            <a:ext cx="1172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60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%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节点保留</a:t>
            </a:r>
          </a:p>
        </p:txBody>
      </p:sp>
      <p:sp>
        <p:nvSpPr>
          <p:cNvPr id="21" name="矩形 20"/>
          <p:cNvSpPr/>
          <p:nvPr/>
        </p:nvSpPr>
        <p:spPr>
          <a:xfrm>
            <a:off x="6387421" y="4758354"/>
            <a:ext cx="1172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50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%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节点保留</a:t>
            </a:r>
          </a:p>
        </p:txBody>
      </p:sp>
    </p:spTree>
    <p:extLst>
      <p:ext uri="{BB962C8B-B14F-4D97-AF65-F5344CB8AC3E}">
        <p14:creationId xmlns:p14="http://schemas.microsoft.com/office/powerpoint/2010/main" val="421600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21758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复现结果：Bootstrap稳定性检验</a:t>
            </a:r>
            <a:endParaRPr lang="en-US" sz="1100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686300"/>
              </p:ext>
            </p:extLst>
          </p:nvPr>
        </p:nvGraphicFramePr>
        <p:xfrm>
          <a:off x="761999" y="1234558"/>
          <a:ext cx="10838120" cy="34137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32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8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8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8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40"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节点保留比例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ASPL（高vs低）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CC（高vs低）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Q（高vs低）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40"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90%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显著更低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显著更高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无显著差异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40"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80%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显著更低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显著更高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显著更低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40"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70%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显著更低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显著更高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显著更低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40"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60%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显著更低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显著更高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显著更低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40"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50%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显著更高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显著更高</a:t>
                      </a: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显著更低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AutoShape 4"/>
          <p:cNvSpPr/>
          <p:nvPr/>
        </p:nvSpPr>
        <p:spPr>
          <a:xfrm>
            <a:off x="932119" y="4587949"/>
            <a:ext cx="10668000" cy="2014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稳定性结论</a:t>
            </a:r>
            <a:r>
              <a:rPr lang="en-US" sz="14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>
              <a:lnSpc>
                <a:spcPct val="150000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CC的组间差异在所有梯度下均稳健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ASPL在90%~60%节点比例下与原文方向一致</a:t>
            </a:r>
          </a:p>
          <a:p>
            <a:pPr>
              <a:lnSpc>
                <a:spcPct val="150000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Q在80%~50%节点比例下与原文方向一致</a:t>
            </a:r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•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整体而言，原研究的组间差异模式具有较高的稳健性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68154" y="565297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 dirty="0" smtClean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随机网络检验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274135" y="3429000"/>
            <a:ext cx="9252098" cy="3086837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90500" rIns="254000" bIns="19050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模拟随机网络函数</a:t>
            </a:r>
          </a:p>
          <a:p>
            <a:pPr>
              <a:lnSpc>
                <a:spcPct val="116666"/>
              </a:lnSpc>
              <a:defRPr/>
            </a:pP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simulate_random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&lt;- function(n, e,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iter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= 1000) { ... }</a:t>
            </a:r>
          </a:p>
          <a:p>
            <a:pPr>
              <a:lnSpc>
                <a:spcPct val="116666"/>
              </a:lnSpc>
              <a:defRPr/>
            </a:pPr>
            <a:endParaRPr lang="en-US" altLang="zh-CN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6666"/>
              </a:lnSpc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生成随机分布</a:t>
            </a:r>
          </a:p>
          <a:p>
            <a:pPr>
              <a:lnSpc>
                <a:spcPct val="116666"/>
              </a:lnSpc>
              <a:defRPr/>
            </a:pP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rand_low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 &lt;-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simulate_random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n_nodes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n_edges_low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>
              <a:lnSpc>
                <a:spcPct val="116666"/>
              </a:lnSpc>
              <a:defRPr/>
            </a:pP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rand_high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&lt;-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simulate_random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n_nodes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n_edges_high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>
              <a:lnSpc>
                <a:spcPct val="116666"/>
              </a:lnSpc>
              <a:defRPr/>
            </a:pPr>
            <a:endParaRPr lang="en-US" altLang="zh-CN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6666"/>
              </a:lnSpc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# Z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检验函数</a:t>
            </a:r>
          </a:p>
          <a:p>
            <a:pPr>
              <a:lnSpc>
                <a:spcPct val="116666"/>
              </a:lnSpc>
              <a:defRPr/>
            </a:pP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z_test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 &lt;- function(real,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) { ... }</a:t>
            </a:r>
          </a:p>
          <a:p>
            <a:pPr>
              <a:lnSpc>
                <a:spcPct val="116666"/>
              </a:lnSpc>
              <a:defRPr/>
            </a:pPr>
            <a:endParaRPr lang="en-US" altLang="zh-CN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6666"/>
              </a:lnSpc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输出各指标的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Z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值和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值</a:t>
            </a:r>
          </a:p>
          <a:p>
            <a:pPr>
              <a:lnSpc>
                <a:spcPct val="116666"/>
              </a:lnSpc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cat("</a:t>
            </a:r>
            <a:r>
              <a:rPr lang="zh-CN" altLang="en-US" sz="1200" dirty="0">
                <a:latin typeface="Consolas"/>
                <a:ea typeface="Consolas"/>
                <a:cs typeface="Consolas"/>
                <a:sym typeface="Consolas"/>
              </a:rPr>
              <a:t>低分组：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\n")</a:t>
            </a:r>
          </a:p>
          <a:p>
            <a:pPr>
              <a:lnSpc>
                <a:spcPct val="116666"/>
              </a:lnSpc>
              <a:defRPr/>
            </a:pP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cat("  ASPL Z =",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z_test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metrics_low$ASPL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altLang="zh-CN" sz="1200" dirty="0" err="1">
                <a:latin typeface="Consolas"/>
                <a:ea typeface="Consolas"/>
                <a:cs typeface="Consolas"/>
                <a:sym typeface="Consolas"/>
              </a:rPr>
              <a:t>rand_low$ASPL</a:t>
            </a:r>
            <a:r>
              <a:rPr lang="en-US" altLang="zh-CN" sz="1200" dirty="0">
                <a:latin typeface="Consolas"/>
                <a:ea typeface="Consolas"/>
                <a:cs typeface="Consolas"/>
                <a:sym typeface="Consolas"/>
              </a:rPr>
              <a:t>)["Z"], ...)</a:t>
            </a:r>
            <a:endParaRPr lang="en-US" sz="1200" b="0" i="0" u="none" strike="noStrik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26287" y="1263445"/>
            <a:ext cx="92520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为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验证语义网络结构是否具有非随机性，本研究采用零模型比较法。在保持与原网络相同节点数与边数的条件下，生成了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1000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个</a:t>
            </a:r>
            <a:r>
              <a:rPr lang="en-US" altLang="zh-CN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Erdős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–</a:t>
            </a:r>
            <a:r>
              <a:rPr lang="en-US" altLang="zh-CN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Rényi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随机网络，构建聚类系数（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CC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）、平均最短路径长度（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ASPL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）和模块度（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Q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）的参考分布</a:t>
            </a: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。</a:t>
            </a:r>
            <a:endParaRPr lang="en-US" altLang="zh-CN" sz="1600" dirty="0" smtClean="0">
              <a:latin typeface="仿宋" panose="02010609060101010101" pitchFamily="49" charset="-122"/>
              <a:ea typeface="仿宋" panose="02010609060101010101" pitchFamily="49" charset="-122"/>
              <a:cs typeface="Noto Sans SC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随后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，</a:t>
            </a: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将两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组的实证网络指标分别与随机分布进行单样本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Z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检验。结果显示，两组所有实证指标均显著偏离随机网络均值（所有 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p &lt;0.001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），表明所构建的语义网络具有非随机的小世界结构</a:t>
            </a: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</a:rPr>
              <a:t>特征。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97839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63846" y="512134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复现结果：全网络指标对比</a:t>
            </a:r>
            <a:endParaRPr lang="en-US" sz="1100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869650"/>
              </p:ext>
            </p:extLst>
          </p:nvPr>
        </p:nvGraphicFramePr>
        <p:xfrm>
          <a:off x="877777" y="1526953"/>
          <a:ext cx="10889781" cy="264339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29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6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8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3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6010">
                  <a:extLst>
                    <a:ext uri="{9D8B030D-6E8A-4147-A177-3AD203B41FA5}">
                      <a16:colId xmlns:a16="http://schemas.microsoft.com/office/drawing/2014/main" val="2980292333"/>
                    </a:ext>
                  </a:extLst>
                </a:gridCol>
                <a:gridCol w="904463">
                  <a:extLst>
                    <a:ext uri="{9D8B030D-6E8A-4147-A177-3AD203B41FA5}">
                      <a16:colId xmlns:a16="http://schemas.microsoft.com/office/drawing/2014/main" val="2383040109"/>
                    </a:ext>
                  </a:extLst>
                </a:gridCol>
                <a:gridCol w="904463">
                  <a:extLst>
                    <a:ext uri="{9D8B030D-6E8A-4147-A177-3AD203B41FA5}">
                      <a16:colId xmlns:a16="http://schemas.microsoft.com/office/drawing/2014/main" val="2394310826"/>
                    </a:ext>
                  </a:extLst>
                </a:gridCol>
              </a:tblGrid>
              <a:tr h="935355"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指标</a:t>
                      </a:r>
                      <a:endParaRPr lang="en-US" sz="1600" b="1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原研究低分组</a:t>
                      </a:r>
                      <a:endParaRPr lang="en-US" sz="1600" b="1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原研究高分组</a:t>
                      </a:r>
                      <a:endParaRPr lang="en-US" sz="1600" b="1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本研究低分组</a:t>
                      </a:r>
                      <a:endParaRPr lang="en-US" sz="1600" b="1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本研究高分组</a:t>
                      </a:r>
                      <a:endParaRPr lang="en-US" sz="1600" b="1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方向是否一致</a:t>
                      </a:r>
                      <a:endParaRPr lang="en-US" sz="1600" b="1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l-GR" sz="1600" b="1" i="0" u="none" strike="noStrike" cap="none" dirty="0" smtClean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Arial"/>
                        </a:rPr>
                        <a:t>δ</a:t>
                      </a:r>
                      <a:endParaRPr lang="en-US" sz="1600" b="1" i="0" u="none" strike="noStrike" cap="none" dirty="0" smtClean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600" b="1" i="0" u="none" strike="noStrike" cap="none" dirty="0" smtClean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Arial"/>
                        </a:rPr>
                        <a:t>low</a:t>
                      </a:r>
                      <a:endParaRPr lang="en-US" sz="1600" b="1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l-GR" sz="1600" b="1" i="0" u="none" strike="noStrike" cap="none" dirty="0" smtClean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Arial"/>
                        </a:rPr>
                        <a:t>δ</a:t>
                      </a:r>
                      <a:endParaRPr lang="en-US" sz="1600" b="1" i="0" u="none" strike="noStrike" cap="none" dirty="0" smtClean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1" i="0" u="none" strike="noStrike" cap="none" dirty="0" smtClean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Arial"/>
                        </a:rPr>
                        <a:t>high</a:t>
                      </a:r>
                      <a:endParaRPr lang="en-US" sz="1600" b="1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600" b="1" i="0" u="none" strike="noStrike" cap="none" dirty="0" smtClean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Arial"/>
                        </a:rPr>
                        <a:t>评级</a:t>
                      </a:r>
                      <a:endParaRPr lang="en-US" sz="1600" b="1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347"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ASPL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3.19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2.84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4.94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4.30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✅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一致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54.86%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51.41%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主要偏差</a:t>
                      </a:r>
                      <a:endParaRPr lang="zh-CN" sz="1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347"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CC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1.03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1.05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0.382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0.391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✅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一致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62.91%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62.76%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347"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Q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0.590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0.521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0.728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0.731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❌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Noto Sans SC"/>
                          <a:sym typeface="Noto Sans SC"/>
                        </a:rPr>
                        <a:t>不一致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23.39%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40.31%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AutoShape 4"/>
          <p:cNvSpPr/>
          <p:nvPr/>
        </p:nvSpPr>
        <p:spPr>
          <a:xfrm>
            <a:off x="925624" y="4420781"/>
            <a:ext cx="10160000" cy="21554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初步结论</a:t>
            </a:r>
            <a:r>
              <a:rPr lang="en-US" sz="18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dirty="0"/>
          </a:p>
          <a:p>
            <a:pPr marL="177800" indent="-177800" algn="l">
              <a:lnSpc>
                <a:spcPct val="125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三项指标绝对数值均与原研究存在较大偏差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buFont typeface="Arial"/>
              <a:buAutoNum type="arabicPeriod"/>
              <a:defRPr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ASPL、CC的组间差异方向与原研究完全一致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buFont typeface="Arial"/>
              <a:buAutoNum type="arabicPeriod"/>
              <a:defRPr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模块度Q的组间差异方向与原研究不符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buFont typeface="Arial"/>
              <a:buAutoNum type="arabicPeriod"/>
              <a:defRPr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核心模式：高开放性组网络连通性更强、局部组织更好的结论得到支持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77037" y="526902"/>
            <a:ext cx="11099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结论与启示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066800" y="2099930"/>
            <a:ext cx="100838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一、核心结论</a:t>
            </a:r>
            <a:endParaRPr lang="en-US" sz="1100" dirty="0"/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1.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理论结论可复现：高开放性个体语义网络具备更短路径、更高聚类的特征，支持核心假设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。</a:t>
            </a:r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2.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数值复现存在壁垒：软件包版本迭代、函数接口变更、指标实现差异是数值偏差的主要来源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。</a:t>
            </a:r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3. 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形成可复用的复现方案：构建了适配R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 4.5.3环境的语义网络分析全流程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。</a:t>
            </a:r>
          </a:p>
          <a:p>
            <a:pPr>
              <a:lnSpc>
                <a:spcPct val="150000"/>
              </a:lnSpc>
              <a:defRPr/>
            </a:pP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8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二、启示</a:t>
            </a:r>
            <a:endParaRPr lang="en-US" sz="1800" b="1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计算可复现性不仅需要开放数据与代码，还需要固化软件环境、明确算法细节</a:t>
            </a:r>
            <a:r>
              <a:rPr lang="en-US" sz="1600" dirty="0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；</a:t>
            </a:r>
          </a:p>
          <a:p>
            <a:pPr>
              <a:lnSpc>
                <a:spcPct val="150000"/>
              </a:lnSpc>
              <a:defRPr/>
            </a:pPr>
            <a:r>
              <a:rPr lang="en-US" sz="1600" dirty="0" err="1" smtClean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语义网络研究的结论稳健性较强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，但绝对数值的跨版本可比性有限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05768" y="317205"/>
            <a:ext cx="3901558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可复现性综合评估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138275" y="1130005"/>
            <a:ext cx="9652000" cy="508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6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数值可复现性</a:t>
            </a:r>
            <a:endParaRPr lang="en-US" sz="1100" dirty="0"/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对比6项核心数值，全部偏差超过10%，完全复现率：0%</a:t>
            </a:r>
          </a:p>
          <a:p>
            <a:pPr>
              <a:lnSpc>
                <a:spcPct val="150000"/>
              </a:lnSpc>
              <a:defRPr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主要原因：软件包算法实现更新、指标标准化方式差异、原数据处理细节未完全公开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defRPr/>
            </a:pP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sz="16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推论可复现性</a:t>
            </a:r>
            <a:endParaRPr lang="en-US" sz="1600" b="1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全网络直接比较：3项推论中2项一致，一致率66.7%</a:t>
            </a:r>
          </a:p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Bootstrap稳健性检验：核心模式与原研究高度吻合，一致率100%</a:t>
            </a:r>
          </a:p>
          <a:p>
            <a:pPr>
              <a:lnSpc>
                <a:spcPct val="150000"/>
              </a:lnSpc>
              <a:defRPr/>
            </a:pP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核心理论推论（高开放性语义网络更灵活高效）得到完整支持</a:t>
            </a:r>
            <a:endParaRPr lang="en-US" sz="1600" dirty="0"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总体判断：</a:t>
            </a:r>
            <a:r>
              <a:rPr lang="en-US" sz="1600" dirty="0" err="1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该研究推论可复现性良好，结果可复现性受限</a:t>
            </a:r>
            <a:r>
              <a:rPr lang="en-US" sz="1600" dirty="0"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5502" y="2324395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 dirty="0" smtClean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867144" y="4145516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欢迎提问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Times New Roman"/>
        <a:ea typeface="仿宋"/>
        <a:cs typeface=""/>
      </a:majorFont>
      <a:minorFont>
        <a:latin typeface="Calibri"/>
        <a:ea typeface="仿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3151</Words>
  <Application>Microsoft Office PowerPoint</Application>
  <PresentationFormat>宽屏</PresentationFormat>
  <Paragraphs>472</Paragraphs>
  <Slides>31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Noto Sans SC</vt:lpstr>
      <vt:lpstr>等线</vt:lpstr>
      <vt:lpstr>仿宋</vt:lpstr>
      <vt:lpstr>宋体</vt:lpstr>
      <vt:lpstr>Arial</vt:lpstr>
      <vt:lpstr>Consolas</vt:lpstr>
      <vt:lpstr>Courier New</vt:lpstr>
      <vt:lpstr>Times</vt:lpstr>
      <vt:lpstr>Times New Roman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Coisini Jane</cp:lastModifiedBy>
  <cp:revision>23</cp:revision>
  <dcterms:modified xsi:type="dcterms:W3CDTF">2026-06-29T03:15:56Z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{"Label":"1","ContentProducer":"001191110102MACQD9K64010000","ProduceID":"7654950750413851893","ReservedCode1":"","ContentPropagator":"","PropagateID":"","ReservedCode2":""}</vt:lpwstr>
  </property>
</Properties>
</file>